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Touvlo" panose="020B0604030403020204" pitchFamily="34" charset="0"/>
      <p:regular r:id="rId13"/>
    </p:embeddedFont>
    <p:embeddedFont>
      <p:font typeface="Touvlo Bold" panose="020B0804030403020204" pitchFamily="34" charset="0"/>
      <p:regular r:id="rId14"/>
    </p:embeddedFont>
    <p:embeddedFont>
      <p:font typeface="Touvlo Bold Italics" panose="020B0804030403090204" pitchFamily="34" charset="0"/>
      <p:regular r:id="rId15"/>
    </p:embeddedFont>
    <p:embeddedFont>
      <p:font typeface="Touvlo Italics" panose="020B0604030403090204" pitchFamily="3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1.fntdata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font" Target="fonts/font4.fntdata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3.fntdata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2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7" Type="http://schemas.openxmlformats.org/officeDocument/2006/relationships/image" Target="../media/image6.sv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svg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1.png" /><Relationship Id="rId5" Type="http://schemas.openxmlformats.org/officeDocument/2006/relationships/image" Target="../media/image10.svg" /><Relationship Id="rId4" Type="http://schemas.openxmlformats.org/officeDocument/2006/relationships/image" Target="../media/image9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 /><Relationship Id="rId7" Type="http://schemas.openxmlformats.org/officeDocument/2006/relationships/image" Target="../media/image17.sv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6.png" /><Relationship Id="rId5" Type="http://schemas.openxmlformats.org/officeDocument/2006/relationships/image" Target="../media/image15.svg" /><Relationship Id="rId4" Type="http://schemas.openxmlformats.org/officeDocument/2006/relationships/image" Target="../media/image14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 /><Relationship Id="rId7" Type="http://schemas.openxmlformats.org/officeDocument/2006/relationships/image" Target="../media/image17.svg" /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6.png" /><Relationship Id="rId5" Type="http://schemas.openxmlformats.org/officeDocument/2006/relationships/image" Target="../media/image19.svg" /><Relationship Id="rId4" Type="http://schemas.openxmlformats.org/officeDocument/2006/relationships/image" Target="../media/image18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 /><Relationship Id="rId7" Type="http://schemas.openxmlformats.org/officeDocument/2006/relationships/image" Target="../media/image25.svg" /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4.png" /><Relationship Id="rId5" Type="http://schemas.openxmlformats.org/officeDocument/2006/relationships/image" Target="../media/image23.svg" /><Relationship Id="rId4" Type="http://schemas.openxmlformats.org/officeDocument/2006/relationships/image" Target="../media/image22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 /><Relationship Id="rId7" Type="http://schemas.openxmlformats.org/officeDocument/2006/relationships/image" Target="../media/image31.svg" /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0.png" /><Relationship Id="rId5" Type="http://schemas.openxmlformats.org/officeDocument/2006/relationships/image" Target="../media/image29.svg" /><Relationship Id="rId4" Type="http://schemas.openxmlformats.org/officeDocument/2006/relationships/image" Target="../media/image28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 /><Relationship Id="rId7" Type="http://schemas.openxmlformats.org/officeDocument/2006/relationships/image" Target="../media/image33.svg" /><Relationship Id="rId2" Type="http://schemas.openxmlformats.org/officeDocument/2006/relationships/image" Target="../media/image2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2.png" /><Relationship Id="rId5" Type="http://schemas.openxmlformats.org/officeDocument/2006/relationships/image" Target="../media/image31.svg" /><Relationship Id="rId4" Type="http://schemas.openxmlformats.org/officeDocument/2006/relationships/image" Target="../media/image30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 /><Relationship Id="rId7" Type="http://schemas.openxmlformats.org/officeDocument/2006/relationships/image" Target="../media/image39.svg" /><Relationship Id="rId2" Type="http://schemas.openxmlformats.org/officeDocument/2006/relationships/image" Target="../media/image34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8.png" /><Relationship Id="rId5" Type="http://schemas.openxmlformats.org/officeDocument/2006/relationships/image" Target="../media/image37.svg" /><Relationship Id="rId4" Type="http://schemas.openxmlformats.org/officeDocument/2006/relationships/image" Target="../media/image36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 /><Relationship Id="rId7" Type="http://schemas.openxmlformats.org/officeDocument/2006/relationships/image" Target="../media/image4.sv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png" /><Relationship Id="rId5" Type="http://schemas.openxmlformats.org/officeDocument/2006/relationships/image" Target="../media/image41.svg" /><Relationship Id="rId4" Type="http://schemas.openxmlformats.org/officeDocument/2006/relationships/image" Target="../media/image40.png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 /><Relationship Id="rId3" Type="http://schemas.openxmlformats.org/officeDocument/2006/relationships/image" Target="../media/image43.svg" /><Relationship Id="rId7" Type="http://schemas.openxmlformats.org/officeDocument/2006/relationships/image" Target="../media/image47.svg" /><Relationship Id="rId2" Type="http://schemas.openxmlformats.org/officeDocument/2006/relationships/image" Target="../media/image42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6.png" /><Relationship Id="rId5" Type="http://schemas.openxmlformats.org/officeDocument/2006/relationships/image" Target="../media/image45.svg" /><Relationship Id="rId4" Type="http://schemas.openxmlformats.org/officeDocument/2006/relationships/image" Target="../media/image44.png" /><Relationship Id="rId9" Type="http://schemas.openxmlformats.org/officeDocument/2006/relationships/image" Target="../media/image39.sv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 /><Relationship Id="rId7" Type="http://schemas.openxmlformats.org/officeDocument/2006/relationships/image" Target="../media/image8.svg" /><Relationship Id="rId2" Type="http://schemas.openxmlformats.org/officeDocument/2006/relationships/image" Target="../media/image4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.png" /><Relationship Id="rId5" Type="http://schemas.openxmlformats.org/officeDocument/2006/relationships/image" Target="../media/image10.svg" /><Relationship Id="rId4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09575" y="1028700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E1ECE7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144000" y="1939775"/>
            <a:ext cx="8115300" cy="7318525"/>
          </a:xfrm>
          <a:custGeom>
            <a:avLst/>
            <a:gdLst/>
            <a:ahLst/>
            <a:cxnLst/>
            <a:rect l="l" t="t" r="r" b="b"/>
            <a:pathLst>
              <a:path w="8115300" h="7318525">
                <a:moveTo>
                  <a:pt x="0" y="0"/>
                </a:moveTo>
                <a:lnTo>
                  <a:pt x="8115300" y="0"/>
                </a:lnTo>
                <a:lnTo>
                  <a:pt x="8115300" y="7318525"/>
                </a:lnTo>
                <a:lnTo>
                  <a:pt x="0" y="7318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5400000">
            <a:off x="1028700" y="6385230"/>
            <a:ext cx="2863545" cy="2863545"/>
            <a:chOff x="0" y="0"/>
            <a:chExt cx="558800" cy="558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E1ECE7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7000" y="193675"/>
              <a:ext cx="304800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617020" y="1028700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1" y="0"/>
                </a:lnTo>
                <a:lnTo>
                  <a:pt x="1070601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30798" y="4933206"/>
            <a:ext cx="687700" cy="687700"/>
          </a:xfrm>
          <a:custGeom>
            <a:avLst/>
            <a:gdLst/>
            <a:ahLst/>
            <a:cxnLst/>
            <a:rect l="l" t="t" r="r" b="b"/>
            <a:pathLst>
              <a:path w="687700" h="687700">
                <a:moveTo>
                  <a:pt x="0" y="0"/>
                </a:moveTo>
                <a:lnTo>
                  <a:pt x="687701" y="0"/>
                </a:lnTo>
                <a:lnTo>
                  <a:pt x="687701" y="687700"/>
                </a:lnTo>
                <a:lnTo>
                  <a:pt x="0" y="68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>
            <a:off x="1028700" y="9248775"/>
            <a:ext cx="775706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028700" y="856138"/>
            <a:ext cx="2710859" cy="649224"/>
            <a:chOff x="0" y="0"/>
            <a:chExt cx="3614478" cy="865632"/>
          </a:xfrm>
        </p:grpSpPr>
        <p:sp>
          <p:nvSpPr>
            <p:cNvPr id="13" name="Freeform 1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897421" y="1678599"/>
            <a:ext cx="10512154" cy="3254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36"/>
              </a:lnSpc>
            </a:pPr>
            <a:r>
              <a:rPr lang="en-US" sz="12412" b="1" spc="-1303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Apresentação  Projeto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53498" y="3389836"/>
            <a:ext cx="5138865" cy="1669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36"/>
              </a:lnSpc>
            </a:pPr>
            <a:r>
              <a:rPr lang="en-US" sz="12412" i="1" spc="-608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A3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73030" y="6318555"/>
            <a:ext cx="287309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 i="1">
                <a:solidFill>
                  <a:srgbClr val="46526D"/>
                </a:solidFill>
                <a:latin typeface="Touvlo Bold Italics"/>
                <a:ea typeface="Touvlo Bold Italics"/>
                <a:cs typeface="Touvlo Bold Italics"/>
                <a:sym typeface="Touvlo Bold Italics"/>
              </a:rPr>
              <a:t>Prof. Calvetti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09094" y="5466254"/>
            <a:ext cx="8247635" cy="317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2"/>
              </a:lnSpc>
            </a:pPr>
            <a:r>
              <a:rPr lang="en-US" sz="2539" b="1" i="1" spc="-101">
                <a:solidFill>
                  <a:srgbClr val="46526D"/>
                </a:solidFill>
                <a:latin typeface="Touvlo Bold Italics"/>
                <a:ea typeface="Touvlo Bold Italics"/>
                <a:cs typeface="Touvlo Bold Italics"/>
                <a:sym typeface="Touvlo Bold Italics"/>
              </a:rPr>
              <a:t>Por: 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Kathleen Lohanny de Souza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Pedro Henrique Ribeiro Baptista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Richard Rosa Galindo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Isabelle de Godoy Sanchez 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Pedro Henrique Ferreira da Rocha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Kauã Santana Oliveira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Lauanda Jones Almeida Da Silva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Rayanne Raquel Nascimento Da Silva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95671" y="6982564"/>
            <a:ext cx="3427809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1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Universidade SJT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781638"/>
            <a:ext cx="2710859" cy="649224"/>
            <a:chOff x="0" y="0"/>
            <a:chExt cx="3614478" cy="865632"/>
          </a:xfrm>
        </p:grpSpPr>
        <p:sp>
          <p:nvSpPr>
            <p:cNvPr id="3" name="Freeform 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817468" y="7301039"/>
            <a:ext cx="3933571" cy="1966786"/>
            <a:chOff x="0" y="0"/>
            <a:chExt cx="660400" cy="330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F7E8D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448860" y="3457729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1" y="0"/>
                </a:lnTo>
                <a:lnTo>
                  <a:pt x="1070601" y="1070601"/>
                </a:lnTo>
                <a:lnTo>
                  <a:pt x="0" y="1070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-5400000">
            <a:off x="14395755" y="1028700"/>
            <a:ext cx="2863545" cy="2863545"/>
            <a:chOff x="0" y="0"/>
            <a:chExt cx="5588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F7E8DC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7000" y="193675"/>
              <a:ext cx="304800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36220" y="5753520"/>
            <a:ext cx="521065" cy="521065"/>
          </a:xfrm>
          <a:custGeom>
            <a:avLst/>
            <a:gdLst/>
            <a:ahLst/>
            <a:cxnLst/>
            <a:rect l="l" t="t" r="r" b="b"/>
            <a:pathLst>
              <a:path w="521065" h="521065">
                <a:moveTo>
                  <a:pt x="0" y="0"/>
                </a:moveTo>
                <a:lnTo>
                  <a:pt x="521066" y="0"/>
                </a:lnTo>
                <a:lnTo>
                  <a:pt x="521066" y="521066"/>
                </a:lnTo>
                <a:lnTo>
                  <a:pt x="0" y="52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>
            <a:off x="4346337" y="9267825"/>
            <a:ext cx="129129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8349249" y="3457729"/>
            <a:ext cx="8910051" cy="5810096"/>
          </a:xfrm>
          <a:custGeom>
            <a:avLst/>
            <a:gdLst/>
            <a:ahLst/>
            <a:cxnLst/>
            <a:rect l="l" t="t" r="r" b="b"/>
            <a:pathLst>
              <a:path w="8910051" h="5810096">
                <a:moveTo>
                  <a:pt x="0" y="0"/>
                </a:moveTo>
                <a:lnTo>
                  <a:pt x="8910051" y="0"/>
                </a:lnTo>
                <a:lnTo>
                  <a:pt x="8910051" y="5810096"/>
                </a:lnTo>
                <a:lnTo>
                  <a:pt x="0" y="5810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8700" y="931175"/>
            <a:ext cx="11292897" cy="1824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67"/>
              </a:lnSpc>
            </a:pPr>
            <a:r>
              <a:rPr lang="en-US" sz="13630" b="1" spc="-1431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Introdução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45041" y="3920820"/>
            <a:ext cx="4595862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spc="-120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Semáforo Humanizado com IoT + NFC.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29407" y="6042628"/>
            <a:ext cx="3776121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i="1" spc="-120">
                <a:solidFill>
                  <a:srgbClr val="46526D"/>
                </a:solidFill>
                <a:latin typeface="Touvlo Bold Italics"/>
                <a:ea typeface="Touvlo Bold Italics"/>
                <a:cs typeface="Touvlo Bold Italics"/>
                <a:sym typeface="Touvlo Bold Italics"/>
              </a:rPr>
              <a:t>Objetivo: segurança, autonomia e inclusão.</a:t>
            </a:r>
          </a:p>
          <a:p>
            <a:pPr algn="l">
              <a:lnSpc>
                <a:spcPts val="3300"/>
              </a:lnSpc>
            </a:pPr>
            <a:endParaRPr lang="en-US" sz="3000" b="1" i="1" spc="-120">
              <a:solidFill>
                <a:srgbClr val="46526D"/>
              </a:solidFill>
              <a:latin typeface="Touvlo Bold Italics"/>
              <a:ea typeface="Touvlo Bold Italics"/>
              <a:cs typeface="Touvlo Bold Italics"/>
              <a:sym typeface="Touvlo Bold Italics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2759751" y="3892245"/>
            <a:ext cx="0" cy="577883"/>
          </a:xfrm>
          <a:prstGeom prst="line">
            <a:avLst/>
          </a:prstGeom>
          <a:ln w="19050" cap="flat">
            <a:solidFill>
              <a:srgbClr val="FF575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3730034" y="6014053"/>
            <a:ext cx="0" cy="577883"/>
          </a:xfrm>
          <a:prstGeom prst="line">
            <a:avLst/>
          </a:prstGeom>
          <a:ln w="19050" cap="flat">
            <a:solidFill>
              <a:srgbClr val="FF575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85548" y="9122229"/>
            <a:ext cx="1135399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038225" y="9112704"/>
            <a:ext cx="439295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9167844" y="1076325"/>
            <a:ext cx="5266944" cy="8229600"/>
          </a:xfrm>
          <a:custGeom>
            <a:avLst/>
            <a:gdLst/>
            <a:ahLst/>
            <a:cxnLst/>
            <a:rect l="l" t="t" r="r" b="b"/>
            <a:pathLst>
              <a:path w="5266944" h="8229600">
                <a:moveTo>
                  <a:pt x="0" y="0"/>
                </a:moveTo>
                <a:lnTo>
                  <a:pt x="5266944" y="0"/>
                </a:lnTo>
                <a:lnTo>
                  <a:pt x="526694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82978" y="682464"/>
            <a:ext cx="8039081" cy="1366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85"/>
              </a:lnSpc>
            </a:pPr>
            <a:r>
              <a:rPr lang="en-US" sz="10183" i="1" spc="-1069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levantamento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432468" y="856138"/>
            <a:ext cx="2710859" cy="649224"/>
            <a:chOff x="0" y="0"/>
            <a:chExt cx="3614478" cy="865632"/>
          </a:xfrm>
        </p:grpSpPr>
        <p:sp>
          <p:nvSpPr>
            <p:cNvPr id="7" name="Freeform 7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793694" y="7134646"/>
            <a:ext cx="1991854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Dados do Estudo SABE, com 1.191 idosos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40909" y="7134646"/>
            <a:ext cx="2396411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O tempo de travessia não acompanha o envelhecimento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39062" y="4565617"/>
            <a:ext cx="2732342" cy="1551940"/>
            <a:chOff x="0" y="0"/>
            <a:chExt cx="3643123" cy="2069253"/>
          </a:xfrm>
        </p:grpSpPr>
        <p:sp>
          <p:nvSpPr>
            <p:cNvPr id="12" name="TextBox 12"/>
            <p:cNvSpPr txBox="1"/>
            <p:nvPr/>
          </p:nvSpPr>
          <p:spPr>
            <a:xfrm>
              <a:off x="327625" y="19050"/>
              <a:ext cx="3315498" cy="2050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Semáforos usam velocidade padrão de 4,3 km/h, mas idosos andam em média 2,7 km/h</a:t>
              </a: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12700" y="0"/>
              <a:ext cx="0" cy="770511"/>
            </a:xfrm>
            <a:prstGeom prst="line">
              <a:avLst/>
            </a:prstGeom>
            <a:ln w="25400" cap="flat">
              <a:solidFill>
                <a:srgbClr val="E0C06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4" name="AutoShape 14"/>
          <p:cNvSpPr/>
          <p:nvPr/>
        </p:nvSpPr>
        <p:spPr>
          <a:xfrm>
            <a:off x="4567895" y="7115596"/>
            <a:ext cx="0" cy="577883"/>
          </a:xfrm>
          <a:prstGeom prst="line">
            <a:avLst/>
          </a:prstGeom>
          <a:ln w="19050" cap="flat">
            <a:solidFill>
              <a:srgbClr val="E0C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7812309" y="7115596"/>
            <a:ext cx="0" cy="577883"/>
          </a:xfrm>
          <a:prstGeom prst="line">
            <a:avLst/>
          </a:prstGeom>
          <a:ln w="19050" cap="flat">
            <a:solidFill>
              <a:srgbClr val="E0C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Freeform 16"/>
          <p:cNvSpPr/>
          <p:nvPr/>
        </p:nvSpPr>
        <p:spPr>
          <a:xfrm>
            <a:off x="15919771" y="2923631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1" y="0"/>
                </a:lnTo>
                <a:lnTo>
                  <a:pt x="1070601" y="1070601"/>
                </a:lnTo>
                <a:lnTo>
                  <a:pt x="0" y="1070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812309" y="5191125"/>
            <a:ext cx="738820" cy="738820"/>
          </a:xfrm>
          <a:custGeom>
            <a:avLst/>
            <a:gdLst/>
            <a:ahLst/>
            <a:cxnLst/>
            <a:rect l="l" t="t" r="r" b="b"/>
            <a:pathLst>
              <a:path w="738820" h="738820">
                <a:moveTo>
                  <a:pt x="0" y="0"/>
                </a:moveTo>
                <a:lnTo>
                  <a:pt x="738819" y="0"/>
                </a:lnTo>
                <a:lnTo>
                  <a:pt x="738819" y="738820"/>
                </a:lnTo>
                <a:lnTo>
                  <a:pt x="0" y="7388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 rot="-5400000">
            <a:off x="14902779" y="3994232"/>
            <a:ext cx="2424734" cy="2424734"/>
            <a:chOff x="0" y="0"/>
            <a:chExt cx="558800" cy="558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F7E8DC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7000" y="193675"/>
              <a:ext cx="304800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38225" y="2040696"/>
            <a:ext cx="8311679" cy="1334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2"/>
              </a:lnSpc>
            </a:pPr>
            <a:r>
              <a:rPr lang="en-US" sz="10032" b="1" spc="-1053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De dados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4524" y="3516081"/>
            <a:ext cx="8039081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0"/>
              </a:lnSpc>
            </a:pPr>
            <a:r>
              <a:rPr lang="en-US" sz="3000" i="1" spc="-315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Idosos x Tempo dos Semáforos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26760" y="7115596"/>
            <a:ext cx="2512434" cy="1247140"/>
            <a:chOff x="0" y="0"/>
            <a:chExt cx="3349912" cy="1662853"/>
          </a:xfrm>
        </p:grpSpPr>
        <p:sp>
          <p:nvSpPr>
            <p:cNvPr id="24" name="TextBox 24"/>
            <p:cNvSpPr txBox="1"/>
            <p:nvPr/>
          </p:nvSpPr>
          <p:spPr>
            <a:xfrm>
              <a:off x="302190" y="19050"/>
              <a:ext cx="3047722" cy="16438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Sinais piscam rápido, o que aumenta o risco de acidentes.</a:t>
              </a: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12700" y="0"/>
              <a:ext cx="0" cy="770511"/>
            </a:xfrm>
            <a:prstGeom prst="line">
              <a:avLst/>
            </a:prstGeom>
            <a:ln w="25400" cap="flat">
              <a:solidFill>
                <a:srgbClr val="E0C060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4533404" y="4628715"/>
            <a:ext cx="2512434" cy="1247140"/>
            <a:chOff x="0" y="0"/>
            <a:chExt cx="3349912" cy="1662853"/>
          </a:xfrm>
        </p:grpSpPr>
        <p:sp>
          <p:nvSpPr>
            <p:cNvPr id="27" name="TextBox 27"/>
            <p:cNvSpPr txBox="1"/>
            <p:nvPr/>
          </p:nvSpPr>
          <p:spPr>
            <a:xfrm>
              <a:off x="302190" y="19050"/>
              <a:ext cx="3047722" cy="16438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97,8% não conseguem atravessar no tempo atual</a:t>
              </a: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12700" y="0"/>
              <a:ext cx="0" cy="770511"/>
            </a:xfrm>
            <a:prstGeom prst="line">
              <a:avLst/>
            </a:prstGeom>
            <a:ln w="25400" cap="flat">
              <a:solidFill>
                <a:srgbClr val="E0C06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9" name="Freeform 29"/>
          <p:cNvSpPr/>
          <p:nvPr/>
        </p:nvSpPr>
        <p:spPr>
          <a:xfrm>
            <a:off x="15044545" y="7434371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56138"/>
            <a:ext cx="2710859" cy="649224"/>
            <a:chOff x="0" y="0"/>
            <a:chExt cx="3614478" cy="865632"/>
          </a:xfrm>
        </p:grpSpPr>
        <p:sp>
          <p:nvSpPr>
            <p:cNvPr id="3" name="Freeform 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332800" y="1028700"/>
            <a:ext cx="8274735" cy="8229600"/>
          </a:xfrm>
          <a:custGeom>
            <a:avLst/>
            <a:gdLst/>
            <a:ahLst/>
            <a:cxnLst/>
            <a:rect l="l" t="t" r="r" b="b"/>
            <a:pathLst>
              <a:path w="8274735" h="8229600">
                <a:moveTo>
                  <a:pt x="0" y="0"/>
                </a:moveTo>
                <a:lnTo>
                  <a:pt x="8274735" y="0"/>
                </a:lnTo>
                <a:lnTo>
                  <a:pt x="82747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1028700" y="9244012"/>
            <a:ext cx="11919981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3373814" y="9234487"/>
            <a:ext cx="388548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1178744" y="6356548"/>
            <a:ext cx="178675" cy="17867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C06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562057" y="6299398"/>
            <a:ext cx="2490270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Padrão de 1,2 m/s também adotado fora do Brasil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982196" y="6299398"/>
            <a:ext cx="2106572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Idosos caminham só 0,8–0,9 m/s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62057" y="7491182"/>
            <a:ext cx="2490270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Estudos mostram travessias insuficientes e riscos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982196" y="7491182"/>
            <a:ext cx="2277104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problema global de semáforos não adaptados.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603496" y="6356548"/>
            <a:ext cx="178675" cy="17867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C06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178744" y="7553823"/>
            <a:ext cx="178675" cy="17867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C06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603496" y="7553823"/>
            <a:ext cx="178675" cy="17867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C06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5585448" y="1332800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1"/>
                </a:lnTo>
                <a:lnTo>
                  <a:pt x="0" y="1070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028700" y="3562553"/>
            <a:ext cx="687700" cy="687700"/>
          </a:xfrm>
          <a:custGeom>
            <a:avLst/>
            <a:gdLst/>
            <a:ahLst/>
            <a:cxnLst/>
            <a:rect l="l" t="t" r="r" b="b"/>
            <a:pathLst>
              <a:path w="687700" h="687700">
                <a:moveTo>
                  <a:pt x="0" y="0"/>
                </a:moveTo>
                <a:lnTo>
                  <a:pt x="687700" y="0"/>
                </a:lnTo>
                <a:lnTo>
                  <a:pt x="687700" y="687701"/>
                </a:lnTo>
                <a:lnTo>
                  <a:pt x="0" y="687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8616967" y="3128843"/>
            <a:ext cx="8039081" cy="465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5"/>
              </a:lnSpc>
            </a:pPr>
            <a:r>
              <a:rPr lang="en-US" sz="3500" i="1" spc="-367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Pesquisas Internacionais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13246" y="587854"/>
            <a:ext cx="8039081" cy="1366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85"/>
              </a:lnSpc>
            </a:pPr>
            <a:r>
              <a:rPr lang="en-US" sz="10183" i="1" spc="-1069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levantamento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23803" y="1695862"/>
            <a:ext cx="8311679" cy="1334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2"/>
              </a:lnSpc>
            </a:pPr>
            <a:r>
              <a:rPr lang="en-US" sz="10032" b="1" spc="-1053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De dados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30925" y="5143500"/>
            <a:ext cx="2287357" cy="228735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FB99D5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5512848" y="3531211"/>
            <a:ext cx="0" cy="1560610"/>
          </a:xfrm>
          <a:prstGeom prst="line">
            <a:avLst/>
          </a:prstGeom>
          <a:ln w="19050" cap="flat">
            <a:solidFill>
              <a:srgbClr val="68C19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6449976" y="3550261"/>
            <a:ext cx="3623842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1" spc="-87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Falta de sinalização multissensorial compromete segurança e autonomia.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30699" y="5380149"/>
            <a:ext cx="3623842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Usuários com mobilidade reduzida levam 30% a 60% mais tempo para iniciar e concluir a travessia.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30699" y="7486262"/>
            <a:ext cx="3623842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1" spc="-87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Adaptar travessias é inclusão, segurança e direito à mobilidade.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40244" y="3531211"/>
            <a:ext cx="0" cy="1560610"/>
          </a:xfrm>
          <a:prstGeom prst="line">
            <a:avLst/>
          </a:prstGeom>
          <a:ln w="19050" cap="flat">
            <a:solidFill>
              <a:srgbClr val="68C19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468869" y="3550261"/>
            <a:ext cx="3619334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PCDs enfrentam barreiras importantes em travessias semafóricas.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8869" y="5380149"/>
            <a:ext cx="3619334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1" spc="-87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IBGE (2022): 18,6 milhões de brasileiros possuem algum tipo de deficiência.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8869" y="7486262"/>
            <a:ext cx="3619334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Semáforos atuais mudam rápido demais e não consideram a realidade dessas pessoas.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927392" y="1028700"/>
            <a:ext cx="3331908" cy="1665954"/>
            <a:chOff x="0" y="0"/>
            <a:chExt cx="660400" cy="330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FB99D5">
                <a:alpha val="6000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900970" y="2163644"/>
            <a:ext cx="6052842" cy="6725380"/>
          </a:xfrm>
          <a:custGeom>
            <a:avLst/>
            <a:gdLst/>
            <a:ahLst/>
            <a:cxnLst/>
            <a:rect l="l" t="t" r="r" b="b"/>
            <a:pathLst>
              <a:path w="6052842" h="6725380">
                <a:moveTo>
                  <a:pt x="0" y="0"/>
                </a:moveTo>
                <a:lnTo>
                  <a:pt x="6052843" y="0"/>
                </a:lnTo>
                <a:lnTo>
                  <a:pt x="6052843" y="6725381"/>
                </a:lnTo>
                <a:lnTo>
                  <a:pt x="0" y="672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AutoShape 17"/>
          <p:cNvSpPr/>
          <p:nvPr/>
        </p:nvSpPr>
        <p:spPr>
          <a:xfrm flipV="1">
            <a:off x="3940637" y="9248775"/>
            <a:ext cx="133186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1028700" y="9248775"/>
            <a:ext cx="239747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9075758" y="646857"/>
            <a:ext cx="2710859" cy="649224"/>
            <a:chOff x="0" y="0"/>
            <a:chExt cx="3614478" cy="865632"/>
          </a:xfrm>
        </p:grpSpPr>
        <p:sp>
          <p:nvSpPr>
            <p:cNvPr id="20" name="Freeform 20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2320016" y="1028700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1" y="0"/>
                </a:lnTo>
                <a:lnTo>
                  <a:pt x="1070601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499429" y="2995911"/>
            <a:ext cx="535300" cy="535300"/>
          </a:xfrm>
          <a:custGeom>
            <a:avLst/>
            <a:gdLst/>
            <a:ahLst/>
            <a:cxnLst/>
            <a:rect l="l" t="t" r="r" b="b"/>
            <a:pathLst>
              <a:path w="535300" h="535300">
                <a:moveTo>
                  <a:pt x="0" y="0"/>
                </a:moveTo>
                <a:lnTo>
                  <a:pt x="535301" y="0"/>
                </a:lnTo>
                <a:lnTo>
                  <a:pt x="535301" y="535300"/>
                </a:lnTo>
                <a:lnTo>
                  <a:pt x="0" y="535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319581" y="730998"/>
            <a:ext cx="8039081" cy="1366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85"/>
              </a:lnSpc>
            </a:pPr>
            <a:r>
              <a:rPr lang="en-US" sz="10183" i="1" spc="-1069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levantamento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30138" y="1839006"/>
            <a:ext cx="8311679" cy="1334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2"/>
              </a:lnSpc>
            </a:pPr>
            <a:r>
              <a:rPr lang="en-US" sz="10032" b="1" spc="-1053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De dados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13445" y="2672978"/>
            <a:ext cx="6345855" cy="6585322"/>
          </a:xfrm>
          <a:custGeom>
            <a:avLst/>
            <a:gdLst/>
            <a:ahLst/>
            <a:cxnLst/>
            <a:rect l="l" t="t" r="r" b="b"/>
            <a:pathLst>
              <a:path w="6345855" h="6585322">
                <a:moveTo>
                  <a:pt x="0" y="0"/>
                </a:moveTo>
                <a:lnTo>
                  <a:pt x="6345855" y="0"/>
                </a:lnTo>
                <a:lnTo>
                  <a:pt x="6345855" y="6585322"/>
                </a:lnTo>
                <a:lnTo>
                  <a:pt x="0" y="658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657965"/>
            <a:ext cx="10490759" cy="3011359"/>
            <a:chOff x="0" y="0"/>
            <a:chExt cx="13987679" cy="4015145"/>
          </a:xfrm>
        </p:grpSpPr>
        <p:sp>
          <p:nvSpPr>
            <p:cNvPr id="4" name="TextBox 4"/>
            <p:cNvSpPr txBox="1"/>
            <p:nvPr/>
          </p:nvSpPr>
          <p:spPr>
            <a:xfrm>
              <a:off x="0" y="200025"/>
              <a:ext cx="7529688" cy="20340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34"/>
                </a:lnSpc>
              </a:pPr>
              <a:r>
                <a:rPr lang="en-US" sz="11024" b="1" spc="-1157">
                  <a:solidFill>
                    <a:srgbClr val="46526D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Proposta 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1834" y="1980706"/>
              <a:ext cx="3443178" cy="20344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34"/>
                </a:lnSpc>
              </a:pPr>
              <a:r>
                <a:rPr lang="en-US" sz="11024" i="1" spc="-1157">
                  <a:solidFill>
                    <a:srgbClr val="46526D"/>
                  </a:solidFill>
                  <a:latin typeface="Touvlo Italics"/>
                  <a:ea typeface="Touvlo Italics"/>
                  <a:cs typeface="Touvlo Italics"/>
                  <a:sym typeface="Touvlo Italics"/>
                </a:rPr>
                <a:t>De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28529" y="1801504"/>
              <a:ext cx="10759149" cy="20340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34"/>
                </a:lnSpc>
              </a:pPr>
              <a:r>
                <a:rPr lang="en-US" sz="11024" b="1" spc="-1157">
                  <a:solidFill>
                    <a:srgbClr val="46526D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solução </a:t>
              </a:r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3940637" y="9248775"/>
            <a:ext cx="133186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028700" y="9248775"/>
            <a:ext cx="239747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00145" y="8462141"/>
            <a:ext cx="2710859" cy="649224"/>
            <a:chOff x="0" y="0"/>
            <a:chExt cx="3614478" cy="865632"/>
          </a:xfrm>
        </p:grpSpPr>
        <p:sp>
          <p:nvSpPr>
            <p:cNvPr id="10" name="Freeform 10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971943" y="1028700"/>
            <a:ext cx="2287357" cy="228735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E2E7EE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156910" y="7648859"/>
            <a:ext cx="4918301" cy="3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Ativação por cartão NFC no poste.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40637" y="5613509"/>
            <a:ext cx="6489503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Sistema ajusta o tempo de travessia para 40 segundos.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47126" y="6432308"/>
            <a:ext cx="5643554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Recursos de acessibilidade: aviso sonoro e vibração.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989648" y="4721509"/>
            <a:ext cx="7338009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Operação somente em horários adequados</a:t>
            </a:r>
          </a:p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(não funciona em picos e feriados).</a:t>
            </a:r>
          </a:p>
        </p:txBody>
      </p:sp>
      <p:sp>
        <p:nvSpPr>
          <p:cNvPr id="19" name="AutoShape 19"/>
          <p:cNvSpPr/>
          <p:nvPr/>
        </p:nvSpPr>
        <p:spPr>
          <a:xfrm flipH="1">
            <a:off x="2989648" y="5473349"/>
            <a:ext cx="7338009" cy="0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flipH="1" flipV="1">
            <a:off x="3940637" y="6302943"/>
            <a:ext cx="6387021" cy="9525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flipH="1">
            <a:off x="4786586" y="7151588"/>
            <a:ext cx="5541072" cy="271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flipH="1">
            <a:off x="5156910" y="7990707"/>
            <a:ext cx="5170748" cy="0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1028700" y="6302943"/>
            <a:ext cx="3395660" cy="1697830"/>
            <a:chOff x="0" y="0"/>
            <a:chExt cx="660400" cy="330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E2E7EE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655930" y="4402748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1"/>
                </a:lnTo>
                <a:lnTo>
                  <a:pt x="0" y="1070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0809301" y="7696708"/>
            <a:ext cx="587999" cy="587999"/>
          </a:xfrm>
          <a:custGeom>
            <a:avLst/>
            <a:gdLst/>
            <a:ahLst/>
            <a:cxnLst/>
            <a:rect l="l" t="t" r="r" b="b"/>
            <a:pathLst>
              <a:path w="587999" h="587999">
                <a:moveTo>
                  <a:pt x="0" y="0"/>
                </a:moveTo>
                <a:lnTo>
                  <a:pt x="587999" y="0"/>
                </a:lnTo>
                <a:lnTo>
                  <a:pt x="587999" y="587999"/>
                </a:lnTo>
                <a:lnTo>
                  <a:pt x="0" y="5879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32468" y="856138"/>
            <a:ext cx="2710859" cy="649224"/>
            <a:chOff x="0" y="0"/>
            <a:chExt cx="3614478" cy="865632"/>
          </a:xfrm>
        </p:grpSpPr>
        <p:sp>
          <p:nvSpPr>
            <p:cNvPr id="3" name="Freeform 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8608700" y="1028700"/>
            <a:ext cx="2061798" cy="1030899"/>
            <a:chOff x="0" y="0"/>
            <a:chExt cx="660400" cy="330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E2E7E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4401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028700" y="703248"/>
            <a:ext cx="8650600" cy="127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1"/>
              </a:lnSpc>
            </a:pPr>
            <a:r>
              <a:rPr lang="en-US" sz="9545" b="1" spc="-1002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Funcionamento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63540" y="1904315"/>
            <a:ext cx="4415167" cy="128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1"/>
              </a:lnSpc>
            </a:pPr>
            <a:r>
              <a:rPr lang="en-US" sz="9545" i="1" spc="-1002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Inteligente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953702"/>
            <a:ext cx="6387021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Desligamento automático em horários de pico (6h–8h e 17h–19h) para evitar congestionamentos.</a:t>
            </a:r>
          </a:p>
        </p:txBody>
      </p:sp>
      <p:sp>
        <p:nvSpPr>
          <p:cNvPr id="12" name="AutoShape 12"/>
          <p:cNvSpPr/>
          <p:nvPr/>
        </p:nvSpPr>
        <p:spPr>
          <a:xfrm flipH="1">
            <a:off x="1028700" y="6076935"/>
            <a:ext cx="6387021" cy="0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028700" y="6296010"/>
            <a:ext cx="6387021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Inatividade em finais de semana e feriados, acompanhando o fluxo de veículos e pedestres.</a:t>
            </a:r>
          </a:p>
        </p:txBody>
      </p:sp>
      <p:sp>
        <p:nvSpPr>
          <p:cNvPr id="14" name="AutoShape 14"/>
          <p:cNvSpPr/>
          <p:nvPr/>
        </p:nvSpPr>
        <p:spPr>
          <a:xfrm flipH="1">
            <a:off x="1028700" y="7138810"/>
            <a:ext cx="6387021" cy="0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28700" y="7357885"/>
            <a:ext cx="6387021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Equilíbrio entre segurança dos usuários vulneráveis e fluidez do trânsito.</a:t>
            </a:r>
          </a:p>
          <a:p>
            <a:pPr algn="l">
              <a:lnSpc>
                <a:spcPts val="2419"/>
              </a:lnSpc>
            </a:pPr>
            <a:endParaRPr lang="en-US" sz="2199" spc="-87">
              <a:solidFill>
                <a:srgbClr val="46526D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16" name="AutoShape 16"/>
          <p:cNvSpPr/>
          <p:nvPr/>
        </p:nvSpPr>
        <p:spPr>
          <a:xfrm flipH="1">
            <a:off x="1028700" y="8200685"/>
            <a:ext cx="6387021" cy="0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8608700" y="5006335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586035" y="6043946"/>
            <a:ext cx="673265" cy="673265"/>
          </a:xfrm>
          <a:custGeom>
            <a:avLst/>
            <a:gdLst/>
            <a:ahLst/>
            <a:cxnLst/>
            <a:rect l="l" t="t" r="r" b="b"/>
            <a:pathLst>
              <a:path w="673265" h="673265">
                <a:moveTo>
                  <a:pt x="0" y="0"/>
                </a:moveTo>
                <a:lnTo>
                  <a:pt x="673265" y="0"/>
                </a:lnTo>
                <a:lnTo>
                  <a:pt x="673265" y="673265"/>
                </a:lnTo>
                <a:lnTo>
                  <a:pt x="0" y="6732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5290949" y="2778833"/>
            <a:ext cx="1968351" cy="196835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61975" cap="sq">
              <a:solidFill>
                <a:srgbClr val="E2E7EE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8676712" y="3650942"/>
            <a:ext cx="8582588" cy="5664508"/>
          </a:xfrm>
          <a:custGeom>
            <a:avLst/>
            <a:gdLst/>
            <a:ahLst/>
            <a:cxnLst/>
            <a:rect l="l" t="t" r="r" b="b"/>
            <a:pathLst>
              <a:path w="8582588" h="5664508">
                <a:moveTo>
                  <a:pt x="0" y="0"/>
                </a:moveTo>
                <a:lnTo>
                  <a:pt x="8582588" y="0"/>
                </a:lnTo>
                <a:lnTo>
                  <a:pt x="8582588" y="5664508"/>
                </a:lnTo>
                <a:lnTo>
                  <a:pt x="0" y="56645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56138"/>
            <a:ext cx="2710859" cy="649224"/>
            <a:chOff x="0" y="0"/>
            <a:chExt cx="3614478" cy="865632"/>
          </a:xfrm>
        </p:grpSpPr>
        <p:sp>
          <p:nvSpPr>
            <p:cNvPr id="3" name="Freeform 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1028700" y="2314859"/>
            <a:ext cx="6640455" cy="6943441"/>
          </a:xfrm>
          <a:custGeom>
            <a:avLst/>
            <a:gdLst/>
            <a:ahLst/>
            <a:cxnLst/>
            <a:rect l="l" t="t" r="r" b="b"/>
            <a:pathLst>
              <a:path w="6640455" h="6943441">
                <a:moveTo>
                  <a:pt x="6640455" y="0"/>
                </a:moveTo>
                <a:lnTo>
                  <a:pt x="0" y="0"/>
                </a:lnTo>
                <a:lnTo>
                  <a:pt x="0" y="6943441"/>
                </a:lnTo>
                <a:lnTo>
                  <a:pt x="6640455" y="6943441"/>
                </a:lnTo>
                <a:lnTo>
                  <a:pt x="6640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10800000">
            <a:off x="1028700" y="2314859"/>
            <a:ext cx="1610805" cy="805403"/>
            <a:chOff x="0" y="0"/>
            <a:chExt cx="660400" cy="330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E6E0E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14477075" y="1028700"/>
            <a:ext cx="2782225" cy="2782225"/>
            <a:chOff x="0" y="0"/>
            <a:chExt cx="5588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E6E0E9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7000" y="193675"/>
              <a:ext cx="304800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4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36793" y="1180750"/>
            <a:ext cx="9231394" cy="2685047"/>
            <a:chOff x="0" y="0"/>
            <a:chExt cx="12308526" cy="358006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200025"/>
              <a:ext cx="9795621" cy="1923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81"/>
                </a:lnSpc>
              </a:pPr>
              <a:r>
                <a:rPr lang="en-US" sz="10477" b="1" spc="-1100">
                  <a:solidFill>
                    <a:srgbClr val="46526D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Impactos 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07220" y="1656943"/>
              <a:ext cx="7801305" cy="19231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82"/>
                </a:lnSpc>
              </a:pPr>
              <a:r>
                <a:rPr lang="en-US" sz="10477" i="1" spc="-1100">
                  <a:solidFill>
                    <a:srgbClr val="46526D"/>
                  </a:solidFill>
                  <a:latin typeface="Touvlo Italics"/>
                  <a:ea typeface="Touvlo Italics"/>
                  <a:cs typeface="Touvlo Italics"/>
                  <a:sym typeface="Touvlo Italics"/>
                </a:rPr>
                <a:t>e Viabilidade 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2119440" y="1349212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1" y="0"/>
                </a:lnTo>
                <a:lnTo>
                  <a:pt x="1070601" y="1070601"/>
                </a:lnTo>
                <a:lnTo>
                  <a:pt x="0" y="1070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8579964" y="5786579"/>
            <a:ext cx="2873583" cy="1551940"/>
            <a:chOff x="0" y="0"/>
            <a:chExt cx="3831444" cy="2069253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101600"/>
              <a:ext cx="238234" cy="238234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88EF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511084" y="19050"/>
              <a:ext cx="3320360" cy="2050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Redução de acidentes e apoio de programas de mobilidade inclusiva.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940765" y="5786579"/>
            <a:ext cx="2868970" cy="1247140"/>
            <a:chOff x="0" y="0"/>
            <a:chExt cx="3825293" cy="1662853"/>
          </a:xfrm>
        </p:grpSpPr>
        <p:sp>
          <p:nvSpPr>
            <p:cNvPr id="22" name="TextBox 22"/>
            <p:cNvSpPr txBox="1"/>
            <p:nvPr/>
          </p:nvSpPr>
          <p:spPr>
            <a:xfrm>
              <a:off x="504934" y="19050"/>
              <a:ext cx="3320360" cy="16438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Mais segurança, autonomia e acessibilidade para idosos e PCDs.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0" y="101600"/>
              <a:ext cx="238234" cy="238234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88EF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9"/>
                  </a:lnSpc>
                </a:pPr>
                <a:endParaRPr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8963277" y="7438708"/>
            <a:ext cx="2490270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Baixo consumo energético e incentivo ao deslocamento a pé.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579964" y="7501349"/>
            <a:ext cx="178675" cy="178675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F88E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940765" y="7419658"/>
            <a:ext cx="2868970" cy="1551940"/>
            <a:chOff x="0" y="0"/>
            <a:chExt cx="3825293" cy="2069253"/>
          </a:xfrm>
        </p:grpSpPr>
        <p:sp>
          <p:nvSpPr>
            <p:cNvPr id="31" name="TextBox 31"/>
            <p:cNvSpPr txBox="1"/>
            <p:nvPr/>
          </p:nvSpPr>
          <p:spPr>
            <a:xfrm>
              <a:off x="504934" y="19050"/>
              <a:ext cx="3320360" cy="2050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Solução simples, escalável e de alto impacto social para a mobilidade urbana.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0" y="108922"/>
              <a:ext cx="238234" cy="238234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88EF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99"/>
                  </a:lnSpc>
                </a:pPr>
                <a:endParaRPr/>
              </a:p>
            </p:txBody>
          </p:sp>
        </p:grpSp>
      </p:grpSp>
      <p:sp>
        <p:nvSpPr>
          <p:cNvPr id="35" name="AutoShape 35"/>
          <p:cNvSpPr/>
          <p:nvPr/>
        </p:nvSpPr>
        <p:spPr>
          <a:xfrm>
            <a:off x="8579964" y="9248775"/>
            <a:ext cx="867933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Freeform 36"/>
          <p:cNvSpPr/>
          <p:nvPr/>
        </p:nvSpPr>
        <p:spPr>
          <a:xfrm>
            <a:off x="8456300" y="2776411"/>
            <a:ext cx="687700" cy="687700"/>
          </a:xfrm>
          <a:custGeom>
            <a:avLst/>
            <a:gdLst/>
            <a:ahLst/>
            <a:cxnLst/>
            <a:rect l="l" t="t" r="r" b="b"/>
            <a:pathLst>
              <a:path w="687700" h="687700">
                <a:moveTo>
                  <a:pt x="0" y="0"/>
                </a:moveTo>
                <a:lnTo>
                  <a:pt x="687700" y="0"/>
                </a:lnTo>
                <a:lnTo>
                  <a:pt x="687700" y="687701"/>
                </a:lnTo>
                <a:lnTo>
                  <a:pt x="0" y="687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8579964" y="4186316"/>
            <a:ext cx="2873583" cy="942340"/>
            <a:chOff x="0" y="0"/>
            <a:chExt cx="3831444" cy="1256453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101600"/>
              <a:ext cx="238234" cy="238234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88EF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9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511084" y="19050"/>
              <a:ext cx="3320360" cy="123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Baixo custo e uso da infraestrutura já existente.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127809" y="4186316"/>
            <a:ext cx="2873583" cy="1247140"/>
            <a:chOff x="0" y="0"/>
            <a:chExt cx="3831444" cy="1662853"/>
          </a:xfrm>
        </p:grpSpPr>
        <p:grpSp>
          <p:nvGrpSpPr>
            <p:cNvPr id="43" name="Group 43"/>
            <p:cNvGrpSpPr/>
            <p:nvPr/>
          </p:nvGrpSpPr>
          <p:grpSpPr>
            <a:xfrm>
              <a:off x="0" y="101600"/>
              <a:ext cx="238234" cy="238234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88EF"/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9"/>
                  </a:lnSpc>
                </a:pPr>
                <a:endParaRPr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511084" y="19050"/>
              <a:ext cx="3320360" cy="16438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Resposta rápida graças ao processamento local.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78638" y="3316541"/>
            <a:ext cx="2980662" cy="298066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E1ECE7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432468" y="856138"/>
            <a:ext cx="2710859" cy="649224"/>
            <a:chOff x="0" y="0"/>
            <a:chExt cx="3614478" cy="865632"/>
          </a:xfrm>
        </p:grpSpPr>
        <p:sp>
          <p:nvSpPr>
            <p:cNvPr id="6" name="Freeform 6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0915027" y="1019175"/>
            <a:ext cx="6344273" cy="8229600"/>
          </a:xfrm>
          <a:custGeom>
            <a:avLst/>
            <a:gdLst/>
            <a:ahLst/>
            <a:cxnLst/>
            <a:rect l="l" t="t" r="r" b="b"/>
            <a:pathLst>
              <a:path w="6344273" h="8229600">
                <a:moveTo>
                  <a:pt x="0" y="0"/>
                </a:moveTo>
                <a:lnTo>
                  <a:pt x="6344273" y="0"/>
                </a:lnTo>
                <a:lnTo>
                  <a:pt x="63442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flipV="1">
            <a:off x="3940637" y="9248775"/>
            <a:ext cx="133186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028700" y="9267825"/>
            <a:ext cx="208169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028700" y="735812"/>
            <a:ext cx="6603367" cy="177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89"/>
              </a:lnSpc>
            </a:pPr>
            <a:r>
              <a:rPr lang="en-US" sz="13257" i="1" spc="-1392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Conclusão</a:t>
            </a:r>
            <a:r>
              <a:rPr lang="en-US" sz="13257" spc="-1392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 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7622542" y="2536236"/>
            <a:ext cx="0" cy="1560610"/>
          </a:xfrm>
          <a:prstGeom prst="line">
            <a:avLst/>
          </a:prstGeom>
          <a:ln w="19050" cap="flat">
            <a:solidFill>
              <a:srgbClr val="68C19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 rot="5400000">
            <a:off x="1028700" y="7674310"/>
            <a:ext cx="1574465" cy="1574465"/>
            <a:chOff x="0" y="0"/>
            <a:chExt cx="558800" cy="558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E1ECE7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7000" y="193675"/>
              <a:ext cx="304800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821437" y="6892651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632067" y="675325"/>
            <a:ext cx="687700" cy="687700"/>
          </a:xfrm>
          <a:custGeom>
            <a:avLst/>
            <a:gdLst/>
            <a:ahLst/>
            <a:cxnLst/>
            <a:rect l="l" t="t" r="r" b="b"/>
            <a:pathLst>
              <a:path w="687700" h="687700">
                <a:moveTo>
                  <a:pt x="0" y="0"/>
                </a:moveTo>
                <a:lnTo>
                  <a:pt x="687700" y="0"/>
                </a:lnTo>
                <a:lnTo>
                  <a:pt x="687700" y="687700"/>
                </a:lnTo>
                <a:lnTo>
                  <a:pt x="0" y="68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28700" y="2588599"/>
            <a:ext cx="2559512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Solução viável técnica, econômica e socialmente.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4657102"/>
            <a:ext cx="2559512" cy="153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Integração de IoT + NFC melhora segurança e autonomia de idosos e PCDs.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6827837"/>
            <a:ext cx="2559512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1" i="1" spc="-87">
                <a:solidFill>
                  <a:srgbClr val="46526D"/>
                </a:solidFill>
                <a:latin typeface="Touvlo Bold Italics"/>
                <a:ea typeface="Touvlo Bold Italics"/>
                <a:cs typeface="Touvlo Bold Italics"/>
                <a:sym typeface="Touvlo Bold Italics"/>
              </a:rPr>
              <a:t>Aproveita infraestrutura existente e mantém fluidez do trânsito.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94042" y="2588599"/>
            <a:ext cx="2389744" cy="183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1" i="1" spc="-87">
                <a:solidFill>
                  <a:srgbClr val="46526D"/>
                </a:solidFill>
                <a:latin typeface="Touvlo Bold Italics"/>
                <a:ea typeface="Touvlo Bold Italics"/>
                <a:cs typeface="Touvlo Bold Italics"/>
                <a:sym typeface="Touvlo Bold Italics"/>
              </a:rPr>
              <a:t>Limitações:</a:t>
            </a: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 necessidade de cartão NFC e barreiras burocráticas para integração.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921587" y="2536236"/>
            <a:ext cx="2804449" cy="5214891"/>
            <a:chOff x="0" y="0"/>
            <a:chExt cx="3739266" cy="6953188"/>
          </a:xfrm>
        </p:grpSpPr>
        <p:sp>
          <p:nvSpPr>
            <p:cNvPr id="23" name="AutoShape 23"/>
            <p:cNvSpPr/>
            <p:nvPr/>
          </p:nvSpPr>
          <p:spPr>
            <a:xfrm flipV="1">
              <a:off x="12700" y="0"/>
              <a:ext cx="0" cy="2080814"/>
            </a:xfrm>
            <a:prstGeom prst="line">
              <a:avLst/>
            </a:prstGeom>
            <a:ln w="25400" cap="flat">
              <a:solidFill>
                <a:srgbClr val="68C19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78385" y="19050"/>
              <a:ext cx="2960880" cy="24566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b="1" spc="-87">
                  <a:solidFill>
                    <a:srgbClr val="46526D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Trabalhos futuros: </a:t>
              </a: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Desenvolvimento de protótipo e testes em campo.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8385" y="2741869"/>
              <a:ext cx="2960880" cy="2050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b="1" spc="-87">
                  <a:solidFill>
                    <a:srgbClr val="46526D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Estudo de tecnologias alternativas (BLE ou QR Code).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8385" y="5715785"/>
              <a:ext cx="2960880" cy="123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Avaliação de impacto após implementação.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471395" cy="8229600"/>
          </a:xfrm>
          <a:custGeom>
            <a:avLst/>
            <a:gdLst/>
            <a:ahLst/>
            <a:cxnLst/>
            <a:rect l="l" t="t" r="r" b="b"/>
            <a:pathLst>
              <a:path w="3471395" h="8229600">
                <a:moveTo>
                  <a:pt x="0" y="0"/>
                </a:moveTo>
                <a:lnTo>
                  <a:pt x="3471395" y="0"/>
                </a:lnTo>
                <a:lnTo>
                  <a:pt x="347139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16347" y="1028700"/>
            <a:ext cx="2842953" cy="8229600"/>
          </a:xfrm>
          <a:custGeom>
            <a:avLst/>
            <a:gdLst/>
            <a:ahLst/>
            <a:cxnLst/>
            <a:rect l="l" t="t" r="r" b="b"/>
            <a:pathLst>
              <a:path w="2842953" h="8229600">
                <a:moveTo>
                  <a:pt x="0" y="0"/>
                </a:moveTo>
                <a:lnTo>
                  <a:pt x="2842953" y="0"/>
                </a:lnTo>
                <a:lnTo>
                  <a:pt x="284295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1028700" y="924401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7788571" y="856138"/>
            <a:ext cx="2710859" cy="649224"/>
            <a:chOff x="0" y="0"/>
            <a:chExt cx="3614478" cy="865632"/>
          </a:xfrm>
        </p:grpSpPr>
        <p:sp>
          <p:nvSpPr>
            <p:cNvPr id="6" name="Freeform 6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640867" y="2527037"/>
            <a:ext cx="1968351" cy="196835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61975" cap="sq">
              <a:solidFill>
                <a:srgbClr val="E6E0E9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026444" y="3821956"/>
            <a:ext cx="8235111" cy="1565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34"/>
              </a:lnSpc>
            </a:pPr>
            <a:r>
              <a:rPr lang="en-US" sz="11717" i="1" spc="-1230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Obrigado </a:t>
            </a:r>
          </a:p>
        </p:txBody>
      </p:sp>
      <p:grpSp>
        <p:nvGrpSpPr>
          <p:cNvPr id="12" name="Group 12"/>
          <p:cNvGrpSpPr/>
          <p:nvPr/>
        </p:nvGrpSpPr>
        <p:grpSpPr>
          <a:xfrm rot="-10800000">
            <a:off x="4913275" y="7381482"/>
            <a:ext cx="2061798" cy="1030899"/>
            <a:chOff x="0" y="0"/>
            <a:chExt cx="660400" cy="330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E6E0E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4596837" y="2175062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937342" y="7034819"/>
            <a:ext cx="687700" cy="687700"/>
          </a:xfrm>
          <a:custGeom>
            <a:avLst/>
            <a:gdLst/>
            <a:ahLst/>
            <a:cxnLst/>
            <a:rect l="l" t="t" r="r" b="b"/>
            <a:pathLst>
              <a:path w="687700" h="687700">
                <a:moveTo>
                  <a:pt x="0" y="0"/>
                </a:moveTo>
                <a:lnTo>
                  <a:pt x="687701" y="0"/>
                </a:lnTo>
                <a:lnTo>
                  <a:pt x="687701" y="687700"/>
                </a:lnTo>
                <a:lnTo>
                  <a:pt x="0" y="68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081164" y="9244012"/>
            <a:ext cx="10739447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4293" y="671903"/>
            <a:ext cx="8333180" cy="169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4"/>
              </a:lnSpc>
            </a:pPr>
            <a:r>
              <a:rPr lang="en-US" sz="12657" b="1" spc="-1329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Bibliografia </a:t>
            </a:r>
          </a:p>
        </p:txBody>
      </p:sp>
      <p:sp>
        <p:nvSpPr>
          <p:cNvPr id="4" name="Freeform 4"/>
          <p:cNvSpPr/>
          <p:nvPr/>
        </p:nvSpPr>
        <p:spPr>
          <a:xfrm>
            <a:off x="5849669" y="3035583"/>
            <a:ext cx="6373360" cy="6222717"/>
          </a:xfrm>
          <a:custGeom>
            <a:avLst/>
            <a:gdLst/>
            <a:ahLst/>
            <a:cxnLst/>
            <a:rect l="l" t="t" r="r" b="b"/>
            <a:pathLst>
              <a:path w="6373360" h="6222717">
                <a:moveTo>
                  <a:pt x="0" y="0"/>
                </a:moveTo>
                <a:lnTo>
                  <a:pt x="6373360" y="0"/>
                </a:lnTo>
                <a:lnTo>
                  <a:pt x="6373360" y="6222717"/>
                </a:lnTo>
                <a:lnTo>
                  <a:pt x="0" y="6222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13302222" y="9244012"/>
            <a:ext cx="290461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028700" y="3759977"/>
            <a:ext cx="4995219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ABNT NBR 9050 – Acessibilidade (2020).</a:t>
            </a:r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1028700" y="5143500"/>
            <a:ext cx="2415099" cy="1207550"/>
            <a:chOff x="0" y="0"/>
            <a:chExt cx="660400" cy="330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F7E8D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432468" y="493400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517617" y="5862581"/>
            <a:ext cx="673265" cy="673265"/>
          </a:xfrm>
          <a:custGeom>
            <a:avLst/>
            <a:gdLst/>
            <a:ahLst/>
            <a:cxnLst/>
            <a:rect l="l" t="t" r="r" b="b"/>
            <a:pathLst>
              <a:path w="673265" h="673265">
                <a:moveTo>
                  <a:pt x="0" y="0"/>
                </a:moveTo>
                <a:lnTo>
                  <a:pt x="673266" y="0"/>
                </a:lnTo>
                <a:lnTo>
                  <a:pt x="673266" y="673265"/>
                </a:lnTo>
                <a:lnTo>
                  <a:pt x="0" y="6732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5432468" y="8444826"/>
            <a:ext cx="2710859" cy="649224"/>
            <a:chOff x="0" y="0"/>
            <a:chExt cx="3614478" cy="865632"/>
          </a:xfrm>
        </p:grpSpPr>
        <p:sp>
          <p:nvSpPr>
            <p:cNvPr id="13" name="Freeform 1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302222" y="6535846"/>
            <a:ext cx="3331908" cy="1665954"/>
            <a:chOff x="0" y="0"/>
            <a:chExt cx="660400" cy="330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F7E8D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67216" y="5399090"/>
            <a:ext cx="4995219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Lei Brasileira de Inclusão – Lei nº 13.146/2015.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414" y="7039258"/>
            <a:ext cx="4995219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IBGE (2022) – Dados sobre Pessoas com Deficiência.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70567" y="3759977"/>
            <a:ext cx="4995219" cy="101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Ministério da Infraestrutura – Diretrizes de Mobilidade Urbana Acessível (2020).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05867" y="5399090"/>
            <a:ext cx="4995219" cy="13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USP – Estudo sobre velocidade de marcha e semáforos (Journal of Transport &amp; Health).</a:t>
            </a:r>
          </a:p>
          <a:p>
            <a:pPr algn="ctr">
              <a:lnSpc>
                <a:spcPts val="2639"/>
              </a:lnSpc>
            </a:pPr>
            <a:endParaRPr lang="en-US" sz="2399" spc="-95">
              <a:solidFill>
                <a:srgbClr val="46526D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148108" y="7039258"/>
            <a:ext cx="4995219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Silva, F. A.; Oliveira, C. J. – Internet das Coisas (Novatec, 2020).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23001" y="2024028"/>
            <a:ext cx="4995219" cy="101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Santos, M.; Ferreira, R. – Cidades Inteligentes e Mobilidade Urbana (2019).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</dc:title>
  <cp:lastModifiedBy>Lauanda Jones</cp:lastModifiedBy>
  <cp:revision>3</cp:revision>
  <dcterms:created xsi:type="dcterms:W3CDTF">2006-08-16T00:00:00Z</dcterms:created>
  <dcterms:modified xsi:type="dcterms:W3CDTF">2025-11-26T21:47:49Z</dcterms:modified>
  <dc:identifier>DAG5wOroK-w</dc:identifier>
</cp:coreProperties>
</file>